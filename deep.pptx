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9" r:id="rId4"/>
    <p:sldId id="261" r:id="rId5"/>
    <p:sldId id="258" r:id="rId6"/>
    <p:sldId id="260" r:id="rId7"/>
    <p:sldId id="262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120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39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495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14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303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784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825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445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1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68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19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rainbow colored lines on a black background&#10;&#10;AI-generated content may be incorrect.">
            <a:extLst>
              <a:ext uri="{FF2B5EF4-FFF2-40B4-BE49-F238E27FC236}">
                <a16:creationId xmlns:a16="http://schemas.microsoft.com/office/drawing/2014/main" id="{CFE75FE3-1CA6-D5F4-4796-1525D9579C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31896" b="11854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3389B3-2FE8-343A-8514-6E405B8EE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4700">
                <a:solidFill>
                  <a:srgbClr val="FFFFFF"/>
                </a:solidFill>
              </a:rPr>
              <a:t>Deep learning and recomending systems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EC765B-5FFB-F8E2-6700-C7793D641EF4}"/>
              </a:ext>
            </a:extLst>
          </p:cNvPr>
          <p:cNvSpPr txBox="1"/>
          <p:nvPr/>
        </p:nvSpPr>
        <p:spPr>
          <a:xfrm>
            <a:off x="6662168" y="5731974"/>
            <a:ext cx="4859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By</a:t>
            </a:r>
            <a:r>
              <a:rPr lang="es-ES" dirty="0"/>
              <a:t> Saioa Prieto and Alexander Pérez</a:t>
            </a:r>
          </a:p>
        </p:txBody>
      </p:sp>
    </p:spTree>
    <p:extLst>
      <p:ext uri="{BB962C8B-B14F-4D97-AF65-F5344CB8AC3E}">
        <p14:creationId xmlns:p14="http://schemas.microsoft.com/office/powerpoint/2010/main" val="2295604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F3C19-8539-4AEB-7E7D-527010190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Index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D04FD-1DB8-F975-7CF2-1E601AC30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5420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7D0463-7457-2F33-4DBD-F57C3CD50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rainbow colored lines on a black background&#10;&#10;AI-generated content may be incorrect.">
            <a:extLst>
              <a:ext uri="{FF2B5EF4-FFF2-40B4-BE49-F238E27FC236}">
                <a16:creationId xmlns:a16="http://schemas.microsoft.com/office/drawing/2014/main" id="{A5219EDD-A7F9-2C35-2D12-9DC2F53041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889" r="-1" b="11846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95FAE947-7211-4722-9026-8E874A8AD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944761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7C97DA-EB17-41BB-CB50-55014BCCB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198" y="1530685"/>
            <a:ext cx="10867517" cy="3612122"/>
          </a:xfrm>
        </p:spPr>
        <p:txBody>
          <a:bodyPr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GB" sz="5000" noProof="0" dirty="0">
                <a:solidFill>
                  <a:srgbClr val="FFFFFF"/>
                </a:solidFill>
              </a:rPr>
              <a:t>DLRM MODEL</a:t>
            </a:r>
            <a:br>
              <a:rPr lang="en-GB" sz="5000" noProof="0" dirty="0">
                <a:solidFill>
                  <a:srgbClr val="FFFFFF"/>
                </a:solidFill>
              </a:rPr>
            </a:br>
            <a:r>
              <a:rPr lang="en-GB" sz="5000" noProof="0" dirty="0">
                <a:solidFill>
                  <a:srgbClr val="FFFFFF"/>
                </a:solidFill>
              </a:rPr>
              <a:t>Deep Learning Recommendation Model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53E504-CE7A-45E8-9030-0BFDACF83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8532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4455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A1BF3-C19C-048E-B391-C88C4AC4F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Basic </a:t>
            </a:r>
            <a:r>
              <a:rPr lang="es-ES" dirty="0" err="1"/>
              <a:t>components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F477F-DA57-233F-D921-38B684FEF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Embbedings</a:t>
            </a:r>
            <a:r>
              <a:rPr lang="es-ES" dirty="0"/>
              <a:t> </a:t>
            </a:r>
            <a:r>
              <a:rPr lang="es-ES" dirty="0">
                <a:sym typeface="Wingdings" panose="05000000000000000000" pitchFamily="2" charset="2"/>
              </a:rPr>
              <a:t> </a:t>
            </a:r>
            <a:r>
              <a:rPr lang="en-US" dirty="0"/>
              <a:t>DLRM will utilize embedding tables for mapping categorical features to dense representations</a:t>
            </a:r>
            <a:endParaRPr lang="es-ES" dirty="0"/>
          </a:p>
          <a:p>
            <a:r>
              <a:rPr lang="es-ES" dirty="0"/>
              <a:t>Matrix </a:t>
            </a:r>
            <a:r>
              <a:rPr lang="es-ES" dirty="0" err="1"/>
              <a:t>factorization</a:t>
            </a:r>
            <a:r>
              <a:rPr lang="es-ES" dirty="0"/>
              <a:t> </a:t>
            </a:r>
            <a:r>
              <a:rPr lang="es-ES" dirty="0">
                <a:sym typeface="Wingdings" panose="05000000000000000000" pitchFamily="2" charset="2"/>
              </a:rPr>
              <a:t> </a:t>
            </a:r>
            <a:r>
              <a:rPr lang="en-US" dirty="0"/>
              <a:t>DLRM uses Matrix Factorization idea to calculate relations between features.</a:t>
            </a:r>
            <a:endParaRPr lang="es-ES" dirty="0"/>
          </a:p>
          <a:p>
            <a:r>
              <a:rPr lang="es-ES" dirty="0"/>
              <a:t>MLP </a:t>
            </a:r>
            <a:r>
              <a:rPr lang="es-ES" dirty="0">
                <a:sym typeface="Wingdings" panose="05000000000000000000" pitchFamily="2" charset="2"/>
              </a:rPr>
              <a:t> </a:t>
            </a:r>
            <a:r>
              <a:rPr lang="en-US" dirty="0"/>
              <a:t>will use 2 layers of MLP (top and bottom), one for processing features and another for calculating relationships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52024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A6097-1883-7E92-5E71-A09D8EF52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DLRM </a:t>
            </a:r>
            <a:r>
              <a:rPr lang="es-ES" dirty="0" err="1"/>
              <a:t>Architecture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CE7B4-99B2-44D0-53E3-444EBE938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5847508" cy="3767328"/>
          </a:xfrm>
        </p:spPr>
        <p:txBody>
          <a:bodyPr/>
          <a:lstStyle/>
          <a:p>
            <a:r>
              <a:rPr lang="es-ES" dirty="0"/>
              <a:t>Input </a:t>
            </a:r>
            <a:r>
              <a:rPr lang="es-ES" dirty="0">
                <a:sym typeface="Wingdings" panose="05000000000000000000" pitchFamily="2" charset="2"/>
              </a:rPr>
              <a:t> </a:t>
            </a:r>
            <a:r>
              <a:rPr lang="es-ES" dirty="0" err="1">
                <a:sym typeface="Wingdings" panose="05000000000000000000" pitchFamily="2" charset="2"/>
              </a:rPr>
              <a:t>continous</a:t>
            </a:r>
            <a:r>
              <a:rPr lang="es-ES" dirty="0">
                <a:sym typeface="Wingdings" panose="05000000000000000000" pitchFamily="2" charset="2"/>
              </a:rPr>
              <a:t> and </a:t>
            </a:r>
            <a:r>
              <a:rPr lang="es-ES" dirty="0" err="1">
                <a:sym typeface="Wingdings" panose="05000000000000000000" pitchFamily="2" charset="2"/>
              </a:rPr>
              <a:t>categorical</a:t>
            </a:r>
            <a:r>
              <a:rPr lang="es-ES" dirty="0">
                <a:sym typeface="Wingdings" panose="05000000000000000000" pitchFamily="2" charset="2"/>
              </a:rPr>
              <a:t> </a:t>
            </a:r>
            <a:r>
              <a:rPr lang="es-ES" dirty="0" err="1">
                <a:sym typeface="Wingdings" panose="05000000000000000000" pitchFamily="2" charset="2"/>
              </a:rPr>
              <a:t>features</a:t>
            </a:r>
            <a:endParaRPr lang="es-ES" dirty="0">
              <a:sym typeface="Wingdings" panose="05000000000000000000" pitchFamily="2" charset="2"/>
            </a:endParaRPr>
          </a:p>
          <a:p>
            <a:pPr lvl="1"/>
            <a:r>
              <a:rPr lang="es-ES" dirty="0">
                <a:sym typeface="Wingdings" panose="05000000000000000000" pitchFamily="2" charset="2"/>
              </a:rPr>
              <a:t>Bottom </a:t>
            </a:r>
            <a:r>
              <a:rPr lang="es-ES" dirty="0" err="1">
                <a:sym typeface="Wingdings" panose="05000000000000000000" pitchFamily="2" charset="2"/>
              </a:rPr>
              <a:t>or</a:t>
            </a:r>
            <a:r>
              <a:rPr lang="es-ES" dirty="0">
                <a:sym typeface="Wingdings" panose="05000000000000000000" pitchFamily="2" charset="2"/>
              </a:rPr>
              <a:t> dense MLP</a:t>
            </a:r>
          </a:p>
          <a:p>
            <a:r>
              <a:rPr lang="es-ES" dirty="0" err="1">
                <a:sym typeface="Wingdings" panose="05000000000000000000" pitchFamily="2" charset="2"/>
              </a:rPr>
              <a:t>Interactions</a:t>
            </a:r>
            <a:r>
              <a:rPr lang="es-ES" dirty="0">
                <a:sym typeface="Wingdings" panose="05000000000000000000" pitchFamily="2" charset="2"/>
              </a:rPr>
              <a:t>  </a:t>
            </a:r>
            <a:r>
              <a:rPr lang="es-ES" dirty="0" err="1">
                <a:sym typeface="Wingdings" panose="05000000000000000000" pitchFamily="2" charset="2"/>
              </a:rPr>
              <a:t>Calculated</a:t>
            </a:r>
            <a:r>
              <a:rPr lang="es-ES" dirty="0">
                <a:sym typeface="Wingdings" panose="05000000000000000000" pitchFamily="2" charset="2"/>
              </a:rPr>
              <a:t> </a:t>
            </a:r>
            <a:r>
              <a:rPr lang="es-ES" dirty="0" err="1">
                <a:sym typeface="Wingdings" panose="05000000000000000000" pitchFamily="2" charset="2"/>
              </a:rPr>
              <a:t>by</a:t>
            </a:r>
            <a:r>
              <a:rPr lang="es-ES" dirty="0">
                <a:sym typeface="Wingdings" panose="05000000000000000000" pitchFamily="2" charset="2"/>
              </a:rPr>
              <a:t> </a:t>
            </a:r>
            <a:r>
              <a:rPr lang="es-ES" dirty="0" err="1">
                <a:sym typeface="Wingdings" panose="05000000000000000000" pitchFamily="2" charset="2"/>
              </a:rPr>
              <a:t>making</a:t>
            </a:r>
            <a:r>
              <a:rPr lang="es-ES" dirty="0">
                <a:sym typeface="Wingdings" panose="05000000000000000000" pitchFamily="2" charset="2"/>
              </a:rPr>
              <a:t> a </a:t>
            </a:r>
            <a:r>
              <a:rPr lang="es-ES" dirty="0" err="1">
                <a:sym typeface="Wingdings" panose="05000000000000000000" pitchFamily="2" charset="2"/>
              </a:rPr>
              <a:t>dot</a:t>
            </a:r>
            <a:r>
              <a:rPr lang="es-ES" dirty="0">
                <a:sym typeface="Wingdings" panose="05000000000000000000" pitchFamily="2" charset="2"/>
              </a:rPr>
              <a:t> producto</a:t>
            </a:r>
          </a:p>
          <a:p>
            <a:r>
              <a:rPr lang="es-ES" dirty="0" err="1">
                <a:sym typeface="Wingdings" panose="05000000000000000000" pitchFamily="2" charset="2"/>
              </a:rPr>
              <a:t>Predictions</a:t>
            </a:r>
            <a:r>
              <a:rPr lang="es-ES" dirty="0">
                <a:sym typeface="Wingdings" panose="05000000000000000000" pitchFamily="2" charset="2"/>
              </a:rPr>
              <a:t>  </a:t>
            </a:r>
            <a:r>
              <a:rPr lang="es-ES" dirty="0" err="1">
                <a:sym typeface="Wingdings" panose="05000000000000000000" pitchFamily="2" charset="2"/>
              </a:rPr>
              <a:t>thanks</a:t>
            </a:r>
            <a:r>
              <a:rPr lang="es-ES" dirty="0">
                <a:sym typeface="Wingdings" panose="05000000000000000000" pitchFamily="2" charset="2"/>
              </a:rPr>
              <a:t> </a:t>
            </a:r>
            <a:r>
              <a:rPr lang="es-ES" dirty="0" err="1">
                <a:sym typeface="Wingdings" panose="05000000000000000000" pitchFamily="2" charset="2"/>
              </a:rPr>
              <a:t>to</a:t>
            </a:r>
            <a:r>
              <a:rPr lang="es-ES" dirty="0">
                <a:sym typeface="Wingdings" panose="05000000000000000000" pitchFamily="2" charset="2"/>
              </a:rPr>
              <a:t> a final </a:t>
            </a:r>
            <a:r>
              <a:rPr lang="es-ES" dirty="0" err="1">
                <a:sym typeface="Wingdings" panose="05000000000000000000" pitchFamily="2" charset="2"/>
              </a:rPr>
              <a:t>sigmoid</a:t>
            </a:r>
            <a:r>
              <a:rPr lang="es-ES" dirty="0">
                <a:sym typeface="Wingdings" panose="05000000000000000000" pitchFamily="2" charset="2"/>
              </a:rPr>
              <a:t> </a:t>
            </a:r>
            <a:r>
              <a:rPr lang="es-ES" dirty="0" err="1">
                <a:sym typeface="Wingdings" panose="05000000000000000000" pitchFamily="2" charset="2"/>
              </a:rPr>
              <a:t>function</a:t>
            </a:r>
            <a:endParaRPr lang="es-ES" dirty="0">
              <a:sym typeface="Wingdings" panose="05000000000000000000" pitchFamily="2" charset="2"/>
            </a:endParaRPr>
          </a:p>
          <a:p>
            <a:pPr lvl="1"/>
            <a:r>
              <a:rPr lang="es-ES" dirty="0">
                <a:sym typeface="Wingdings" panose="05000000000000000000" pitchFamily="2" charset="2"/>
              </a:rPr>
              <a:t>Top </a:t>
            </a:r>
            <a:r>
              <a:rPr lang="es-ES" dirty="0" err="1">
                <a:sym typeface="Wingdings" panose="05000000000000000000" pitchFamily="2" charset="2"/>
              </a:rPr>
              <a:t>or</a:t>
            </a:r>
            <a:r>
              <a:rPr lang="es-ES" dirty="0">
                <a:sym typeface="Wingdings" panose="05000000000000000000" pitchFamily="2" charset="2"/>
              </a:rPr>
              <a:t> output MLP</a:t>
            </a:r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B1BFE5-FDFB-0240-9709-B17EC0444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7297" y="2194308"/>
            <a:ext cx="3820058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242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A4F71-063B-054C-95FD-12BD42133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Parallelism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A7D-10CC-97EA-4912-C26523BCC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3766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2EF47F-F199-BC29-79CE-8B036EF3D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47161CC1-9C63-22E2-3C5C-8ADC95153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rainbow colored lines on a black background&#10;&#10;AI-generated content may be incorrect.">
            <a:extLst>
              <a:ext uri="{FF2B5EF4-FFF2-40B4-BE49-F238E27FC236}">
                <a16:creationId xmlns:a16="http://schemas.microsoft.com/office/drawing/2014/main" id="{385BBE8C-8098-5FE4-C2C9-935DE1C900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889" r="-1" b="11846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FFEFBAC-7686-24AF-10EB-C28BACF2BE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944761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9C260-E545-9A10-B449-D895F42A3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198" y="1530685"/>
            <a:ext cx="10867517" cy="3612122"/>
          </a:xfrm>
        </p:spPr>
        <p:txBody>
          <a:bodyPr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GB" sz="5000" noProof="0">
                <a:solidFill>
                  <a:srgbClr val="FFFFFF"/>
                </a:solidFill>
              </a:rPr>
              <a:t>DIEN MODEL</a:t>
            </a:r>
            <a:endParaRPr lang="en-GB" sz="5000" noProof="0" dirty="0">
              <a:solidFill>
                <a:srgbClr val="FFFFFF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B2ED468-AB36-7EF1-32AD-16598F45E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8532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067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106</Words>
  <Application>Microsoft Office PowerPoint</Application>
  <PresentationFormat>Widescreen</PresentationFormat>
  <Paragraphs>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Bierstadt</vt:lpstr>
      <vt:lpstr>Wingdings</vt:lpstr>
      <vt:lpstr>GestaltVTI</vt:lpstr>
      <vt:lpstr>Deep learning and recomending systems</vt:lpstr>
      <vt:lpstr>Index</vt:lpstr>
      <vt:lpstr>DLRM MODEL Deep Learning Recommendation Model</vt:lpstr>
      <vt:lpstr>Basic components</vt:lpstr>
      <vt:lpstr>DLRM Architecture</vt:lpstr>
      <vt:lpstr>Parallelism</vt:lpstr>
      <vt:lpstr>DIEN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Saioa Prieto Portugal</dc:creator>
  <cp:lastModifiedBy>Saioa Prieto Portugal</cp:lastModifiedBy>
  <cp:revision>3</cp:revision>
  <dcterms:created xsi:type="dcterms:W3CDTF">2025-07-25T12:38:59Z</dcterms:created>
  <dcterms:modified xsi:type="dcterms:W3CDTF">2025-07-25T12:49:40Z</dcterms:modified>
</cp:coreProperties>
</file>